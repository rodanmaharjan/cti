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42" r:id="rId5"/>
    <p:sldId id="359" r:id="rId6"/>
    <p:sldId id="373" r:id="rId7"/>
    <p:sldId id="382" r:id="rId8"/>
    <p:sldId id="374" r:id="rId9"/>
    <p:sldId id="383" r:id="rId10"/>
    <p:sldId id="384" r:id="rId11"/>
    <p:sldId id="385" r:id="rId12"/>
    <p:sldId id="386" r:id="rId13"/>
    <p:sldId id="387" r:id="rId14"/>
    <p:sldId id="389" r:id="rId15"/>
    <p:sldId id="388" r:id="rId16"/>
    <p:sldId id="390" r:id="rId17"/>
    <p:sldId id="391" r:id="rId18"/>
    <p:sldId id="392" r:id="rId19"/>
    <p:sldId id="3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5388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58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EF91F6-CB84-4665-B606-0DE48B43A6B0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CA5BC4F-398A-4B6C-AE1D-1C4A40558AE7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INTRODUCTION</a:t>
          </a:r>
        </a:p>
      </dgm:t>
    </dgm:pt>
    <dgm:pt modelId="{5C2B9B0F-63DE-4C2F-A695-60ECD24FE7F9}" type="parTrans" cxnId="{7DADAFDE-6EBE-405F-969B-939FA1D8CA88}">
      <dgm:prSet/>
      <dgm:spPr/>
      <dgm:t>
        <a:bodyPr/>
        <a:lstStyle/>
        <a:p>
          <a:endParaRPr lang="en-US"/>
        </a:p>
      </dgm:t>
    </dgm:pt>
    <dgm:pt modelId="{22EADA0E-5E2A-41E7-BD78-4DEA03432BF9}" type="sibTrans" cxnId="{7DADAFDE-6EBE-405F-969B-939FA1D8CA88}">
      <dgm:prSet/>
      <dgm:spPr/>
      <dgm:t>
        <a:bodyPr/>
        <a:lstStyle/>
        <a:p>
          <a:endParaRPr lang="en-US"/>
        </a:p>
      </dgm:t>
    </dgm:pt>
    <dgm:pt modelId="{CCE8F91A-3D81-42BA-88BD-FF4A72BBE5DE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INCIDENT DESCRIPTION</a:t>
          </a:r>
          <a:endParaRPr lang="en-US" dirty="0">
            <a:solidFill>
              <a:schemeClr val="bg1"/>
            </a:solidFill>
          </a:endParaRPr>
        </a:p>
      </dgm:t>
    </dgm:pt>
    <dgm:pt modelId="{CAA1E64A-16BB-4C77-8BFF-7A47798237CE}" type="parTrans" cxnId="{5952D62B-5419-4D18-BCC3-F5B080DE64AD}">
      <dgm:prSet/>
      <dgm:spPr/>
      <dgm:t>
        <a:bodyPr/>
        <a:lstStyle/>
        <a:p>
          <a:endParaRPr lang="en-US"/>
        </a:p>
      </dgm:t>
    </dgm:pt>
    <dgm:pt modelId="{FF2EB32C-0C58-4940-9EB3-92696BF07C39}" type="sibTrans" cxnId="{5952D62B-5419-4D18-BCC3-F5B080DE64AD}">
      <dgm:prSet/>
      <dgm:spPr/>
      <dgm:t>
        <a:bodyPr/>
        <a:lstStyle/>
        <a:p>
          <a:endParaRPr lang="en-US"/>
        </a:p>
      </dgm:t>
    </dgm:pt>
    <dgm:pt modelId="{46F17CFA-152F-4A1D-B7EF-018BF150A011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ANALYSIS OF CAUSES</a:t>
          </a:r>
        </a:p>
      </dgm:t>
    </dgm:pt>
    <dgm:pt modelId="{661789FF-A341-488F-B060-487B518DD4D7}" type="parTrans" cxnId="{75C453DE-53D2-4107-BE95-2587DB63D809}">
      <dgm:prSet/>
      <dgm:spPr/>
      <dgm:t>
        <a:bodyPr/>
        <a:lstStyle/>
        <a:p>
          <a:endParaRPr lang="en-US"/>
        </a:p>
      </dgm:t>
    </dgm:pt>
    <dgm:pt modelId="{E3B68829-086F-409B-9403-D78A59F94E0A}" type="sibTrans" cxnId="{75C453DE-53D2-4107-BE95-2587DB63D809}">
      <dgm:prSet/>
      <dgm:spPr/>
      <dgm:t>
        <a:bodyPr/>
        <a:lstStyle/>
        <a:p>
          <a:endParaRPr lang="en-US"/>
        </a:p>
      </dgm:t>
    </dgm:pt>
    <dgm:pt modelId="{1CFB767B-15ED-40A1-B8AF-E94AF4C4609B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IMPACT &amp; CONSEQUENCES</a:t>
          </a:r>
        </a:p>
      </dgm:t>
    </dgm:pt>
    <dgm:pt modelId="{7E8A321E-EE83-4006-AE93-FB430DD68937}" type="parTrans" cxnId="{53C2E065-1940-43B1-936F-5A53A8DEB352}">
      <dgm:prSet/>
      <dgm:spPr/>
      <dgm:t>
        <a:bodyPr/>
        <a:lstStyle/>
        <a:p>
          <a:endParaRPr lang="en-US"/>
        </a:p>
      </dgm:t>
    </dgm:pt>
    <dgm:pt modelId="{3FBD1FC3-9E55-42CE-98C0-94A9814203FB}" type="sibTrans" cxnId="{53C2E065-1940-43B1-936F-5A53A8DEB352}">
      <dgm:prSet/>
      <dgm:spPr/>
      <dgm:t>
        <a:bodyPr/>
        <a:lstStyle/>
        <a:p>
          <a:endParaRPr lang="en-US"/>
        </a:p>
      </dgm:t>
    </dgm:pt>
    <dgm:pt modelId="{D6AA8370-9E24-44DA-87FD-BDB7BFDAB741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LESSON LEARNED</a:t>
          </a:r>
          <a:endParaRPr lang="en-US" dirty="0">
            <a:solidFill>
              <a:schemeClr val="bg1"/>
            </a:solidFill>
          </a:endParaRPr>
        </a:p>
      </dgm:t>
    </dgm:pt>
    <dgm:pt modelId="{33FCD279-7642-4ADF-925E-25FA204B49E8}" type="parTrans" cxnId="{4F4FC27D-CE5F-468F-9C3A-D21ED8EBB61B}">
      <dgm:prSet/>
      <dgm:spPr/>
      <dgm:t>
        <a:bodyPr/>
        <a:lstStyle/>
        <a:p>
          <a:endParaRPr lang="en-US"/>
        </a:p>
      </dgm:t>
    </dgm:pt>
    <dgm:pt modelId="{6A45CDD9-08E3-454D-B2BD-C0B90DF23FAB}" type="sibTrans" cxnId="{4F4FC27D-CE5F-468F-9C3A-D21ED8EBB61B}">
      <dgm:prSet/>
      <dgm:spPr/>
      <dgm:t>
        <a:bodyPr/>
        <a:lstStyle/>
        <a:p>
          <a:endParaRPr lang="en-US"/>
        </a:p>
      </dgm:t>
    </dgm:pt>
    <dgm:pt modelId="{CB729EED-A9D1-4AB5-B2A7-08288D0737A4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RECOMMENDATION</a:t>
          </a:r>
        </a:p>
      </dgm:t>
    </dgm:pt>
    <dgm:pt modelId="{06A86D20-E276-4564-9537-A2E167F12178}" type="parTrans" cxnId="{1B39CAE7-A3A6-45A8-AA55-891FFB8829FF}">
      <dgm:prSet/>
      <dgm:spPr/>
      <dgm:t>
        <a:bodyPr/>
        <a:lstStyle/>
        <a:p>
          <a:endParaRPr lang="en-US"/>
        </a:p>
      </dgm:t>
    </dgm:pt>
    <dgm:pt modelId="{087B779A-F008-4E99-B61C-C8960DA8E1DA}" type="sibTrans" cxnId="{1B39CAE7-A3A6-45A8-AA55-891FFB8829FF}">
      <dgm:prSet/>
      <dgm:spPr/>
      <dgm:t>
        <a:bodyPr/>
        <a:lstStyle/>
        <a:p>
          <a:endParaRPr lang="en-US"/>
        </a:p>
      </dgm:t>
    </dgm:pt>
    <dgm:pt modelId="{FAD38A29-CE8E-4158-8DDD-65F5DCF11AFC}" type="pres">
      <dgm:prSet presAssocID="{F6EF91F6-CB84-4665-B606-0DE48B43A6B0}" presName="vert0" presStyleCnt="0">
        <dgm:presLayoutVars>
          <dgm:dir/>
          <dgm:animOne val="branch"/>
          <dgm:animLvl val="lvl"/>
        </dgm:presLayoutVars>
      </dgm:prSet>
      <dgm:spPr/>
    </dgm:pt>
    <dgm:pt modelId="{4CE40A51-DC73-4002-9BB0-F7D23E0A07F3}" type="pres">
      <dgm:prSet presAssocID="{9CA5BC4F-398A-4B6C-AE1D-1C4A40558AE7}" presName="thickLine" presStyleLbl="alignNode1" presStyleIdx="0" presStyleCnt="6"/>
      <dgm:spPr/>
    </dgm:pt>
    <dgm:pt modelId="{8AF385E7-F046-42A1-8692-10D31275FEC7}" type="pres">
      <dgm:prSet presAssocID="{9CA5BC4F-398A-4B6C-AE1D-1C4A40558AE7}" presName="horz1" presStyleCnt="0"/>
      <dgm:spPr/>
    </dgm:pt>
    <dgm:pt modelId="{A5201CE0-56A9-4F39-9719-65BEFF796BAF}" type="pres">
      <dgm:prSet presAssocID="{9CA5BC4F-398A-4B6C-AE1D-1C4A40558AE7}" presName="tx1" presStyleLbl="revTx" presStyleIdx="0" presStyleCnt="6"/>
      <dgm:spPr/>
    </dgm:pt>
    <dgm:pt modelId="{C6A16B7B-71E9-473F-B092-3EE2316B02A8}" type="pres">
      <dgm:prSet presAssocID="{9CA5BC4F-398A-4B6C-AE1D-1C4A40558AE7}" presName="vert1" presStyleCnt="0"/>
      <dgm:spPr/>
    </dgm:pt>
    <dgm:pt modelId="{1798DF0D-F4A2-495D-B564-262A397F6028}" type="pres">
      <dgm:prSet presAssocID="{CCE8F91A-3D81-42BA-88BD-FF4A72BBE5DE}" presName="thickLine" presStyleLbl="alignNode1" presStyleIdx="1" presStyleCnt="6"/>
      <dgm:spPr/>
    </dgm:pt>
    <dgm:pt modelId="{A884C725-B142-4D46-BDB0-A272B1B47625}" type="pres">
      <dgm:prSet presAssocID="{CCE8F91A-3D81-42BA-88BD-FF4A72BBE5DE}" presName="horz1" presStyleCnt="0"/>
      <dgm:spPr/>
    </dgm:pt>
    <dgm:pt modelId="{BC4BFB70-373F-444D-88F4-D06DBEBBDA92}" type="pres">
      <dgm:prSet presAssocID="{CCE8F91A-3D81-42BA-88BD-FF4A72BBE5DE}" presName="tx1" presStyleLbl="revTx" presStyleIdx="1" presStyleCnt="6"/>
      <dgm:spPr/>
    </dgm:pt>
    <dgm:pt modelId="{4BB04101-5E5A-4013-9858-92C565C4E990}" type="pres">
      <dgm:prSet presAssocID="{CCE8F91A-3D81-42BA-88BD-FF4A72BBE5DE}" presName="vert1" presStyleCnt="0"/>
      <dgm:spPr/>
    </dgm:pt>
    <dgm:pt modelId="{708C7870-1EC9-4B3F-9FAB-8117AA206AC8}" type="pres">
      <dgm:prSet presAssocID="{46F17CFA-152F-4A1D-B7EF-018BF150A011}" presName="thickLine" presStyleLbl="alignNode1" presStyleIdx="2" presStyleCnt="6"/>
      <dgm:spPr/>
    </dgm:pt>
    <dgm:pt modelId="{3B395719-20EC-4AF2-A327-64608BE6A94F}" type="pres">
      <dgm:prSet presAssocID="{46F17CFA-152F-4A1D-B7EF-018BF150A011}" presName="horz1" presStyleCnt="0"/>
      <dgm:spPr/>
    </dgm:pt>
    <dgm:pt modelId="{98DF01F7-732F-45BB-9098-8060EB5483FD}" type="pres">
      <dgm:prSet presAssocID="{46F17CFA-152F-4A1D-B7EF-018BF150A011}" presName="tx1" presStyleLbl="revTx" presStyleIdx="2" presStyleCnt="6"/>
      <dgm:spPr/>
    </dgm:pt>
    <dgm:pt modelId="{76557AAD-6779-43FC-895E-48878D22FC86}" type="pres">
      <dgm:prSet presAssocID="{46F17CFA-152F-4A1D-B7EF-018BF150A011}" presName="vert1" presStyleCnt="0"/>
      <dgm:spPr/>
    </dgm:pt>
    <dgm:pt modelId="{02D5246D-373F-41CF-8968-BE023916056F}" type="pres">
      <dgm:prSet presAssocID="{1CFB767B-15ED-40A1-B8AF-E94AF4C4609B}" presName="thickLine" presStyleLbl="alignNode1" presStyleIdx="3" presStyleCnt="6"/>
      <dgm:spPr/>
    </dgm:pt>
    <dgm:pt modelId="{D78D69BE-9339-4767-8502-4157BB25510B}" type="pres">
      <dgm:prSet presAssocID="{1CFB767B-15ED-40A1-B8AF-E94AF4C4609B}" presName="horz1" presStyleCnt="0"/>
      <dgm:spPr/>
    </dgm:pt>
    <dgm:pt modelId="{55B42573-5CCC-42A4-8A3F-FFBBEF3468FE}" type="pres">
      <dgm:prSet presAssocID="{1CFB767B-15ED-40A1-B8AF-E94AF4C4609B}" presName="tx1" presStyleLbl="revTx" presStyleIdx="3" presStyleCnt="6"/>
      <dgm:spPr/>
    </dgm:pt>
    <dgm:pt modelId="{3ADC07C4-C2AA-4A11-96B1-828F888ED530}" type="pres">
      <dgm:prSet presAssocID="{1CFB767B-15ED-40A1-B8AF-E94AF4C4609B}" presName="vert1" presStyleCnt="0"/>
      <dgm:spPr/>
    </dgm:pt>
    <dgm:pt modelId="{E65720DC-2BB8-424D-B0EA-E7383C0ABFC0}" type="pres">
      <dgm:prSet presAssocID="{D6AA8370-9E24-44DA-87FD-BDB7BFDAB741}" presName="thickLine" presStyleLbl="alignNode1" presStyleIdx="4" presStyleCnt="6"/>
      <dgm:spPr/>
    </dgm:pt>
    <dgm:pt modelId="{E64802FA-6523-4640-97F1-4E92B49FCCC1}" type="pres">
      <dgm:prSet presAssocID="{D6AA8370-9E24-44DA-87FD-BDB7BFDAB741}" presName="horz1" presStyleCnt="0"/>
      <dgm:spPr/>
    </dgm:pt>
    <dgm:pt modelId="{9DF9A355-A0CB-4CB7-B4B4-25246B2F1865}" type="pres">
      <dgm:prSet presAssocID="{D6AA8370-9E24-44DA-87FD-BDB7BFDAB741}" presName="tx1" presStyleLbl="revTx" presStyleIdx="4" presStyleCnt="6"/>
      <dgm:spPr/>
    </dgm:pt>
    <dgm:pt modelId="{20D1F678-9F64-48D5-BABF-EF5083CF9FAE}" type="pres">
      <dgm:prSet presAssocID="{D6AA8370-9E24-44DA-87FD-BDB7BFDAB741}" presName="vert1" presStyleCnt="0"/>
      <dgm:spPr/>
    </dgm:pt>
    <dgm:pt modelId="{13DA269D-705B-4967-9CED-1082C6A4FA00}" type="pres">
      <dgm:prSet presAssocID="{CB729EED-A9D1-4AB5-B2A7-08288D0737A4}" presName="thickLine" presStyleLbl="alignNode1" presStyleIdx="5" presStyleCnt="6"/>
      <dgm:spPr/>
    </dgm:pt>
    <dgm:pt modelId="{33912DE3-7081-490F-80D7-285A0F659DC2}" type="pres">
      <dgm:prSet presAssocID="{CB729EED-A9D1-4AB5-B2A7-08288D0737A4}" presName="horz1" presStyleCnt="0"/>
      <dgm:spPr/>
    </dgm:pt>
    <dgm:pt modelId="{37A21777-3041-4377-9DDD-3E0A4F9AF908}" type="pres">
      <dgm:prSet presAssocID="{CB729EED-A9D1-4AB5-B2A7-08288D0737A4}" presName="tx1" presStyleLbl="revTx" presStyleIdx="5" presStyleCnt="6"/>
      <dgm:spPr/>
    </dgm:pt>
    <dgm:pt modelId="{C68C596F-D7DB-4489-96A4-60CE5971B312}" type="pres">
      <dgm:prSet presAssocID="{CB729EED-A9D1-4AB5-B2A7-08288D0737A4}" presName="vert1" presStyleCnt="0"/>
      <dgm:spPr/>
    </dgm:pt>
  </dgm:ptLst>
  <dgm:cxnLst>
    <dgm:cxn modelId="{484CD301-1F59-45AA-BCB3-31BF26792182}" type="presOf" srcId="{CCE8F91A-3D81-42BA-88BD-FF4A72BBE5DE}" destId="{BC4BFB70-373F-444D-88F4-D06DBEBBDA92}" srcOrd="0" destOrd="0" presId="urn:microsoft.com/office/officeart/2008/layout/LinedList"/>
    <dgm:cxn modelId="{F8D18923-18F7-425F-975C-4F986459D879}" type="presOf" srcId="{46F17CFA-152F-4A1D-B7EF-018BF150A011}" destId="{98DF01F7-732F-45BB-9098-8060EB5483FD}" srcOrd="0" destOrd="0" presId="urn:microsoft.com/office/officeart/2008/layout/LinedList"/>
    <dgm:cxn modelId="{5952D62B-5419-4D18-BCC3-F5B080DE64AD}" srcId="{F6EF91F6-CB84-4665-B606-0DE48B43A6B0}" destId="{CCE8F91A-3D81-42BA-88BD-FF4A72BBE5DE}" srcOrd="1" destOrd="0" parTransId="{CAA1E64A-16BB-4C77-8BFF-7A47798237CE}" sibTransId="{FF2EB32C-0C58-4940-9EB3-92696BF07C39}"/>
    <dgm:cxn modelId="{53C2E065-1940-43B1-936F-5A53A8DEB352}" srcId="{F6EF91F6-CB84-4665-B606-0DE48B43A6B0}" destId="{1CFB767B-15ED-40A1-B8AF-E94AF4C4609B}" srcOrd="3" destOrd="0" parTransId="{7E8A321E-EE83-4006-AE93-FB430DD68937}" sibTransId="{3FBD1FC3-9E55-42CE-98C0-94A9814203FB}"/>
    <dgm:cxn modelId="{157C606E-61EB-4DF8-A140-1D0A791080EA}" type="presOf" srcId="{CB729EED-A9D1-4AB5-B2A7-08288D0737A4}" destId="{37A21777-3041-4377-9DDD-3E0A4F9AF908}" srcOrd="0" destOrd="0" presId="urn:microsoft.com/office/officeart/2008/layout/LinedList"/>
    <dgm:cxn modelId="{EFD47372-A58C-4684-ADF4-F119C6D542AA}" type="presOf" srcId="{F6EF91F6-CB84-4665-B606-0DE48B43A6B0}" destId="{FAD38A29-CE8E-4158-8DDD-65F5DCF11AFC}" srcOrd="0" destOrd="0" presId="urn:microsoft.com/office/officeart/2008/layout/LinedList"/>
    <dgm:cxn modelId="{4F4FC27D-CE5F-468F-9C3A-D21ED8EBB61B}" srcId="{F6EF91F6-CB84-4665-B606-0DE48B43A6B0}" destId="{D6AA8370-9E24-44DA-87FD-BDB7BFDAB741}" srcOrd="4" destOrd="0" parTransId="{33FCD279-7642-4ADF-925E-25FA204B49E8}" sibTransId="{6A45CDD9-08E3-454D-B2BD-C0B90DF23FAB}"/>
    <dgm:cxn modelId="{FB6D29B1-3920-4B9B-A94C-12995CB9B131}" type="presOf" srcId="{D6AA8370-9E24-44DA-87FD-BDB7BFDAB741}" destId="{9DF9A355-A0CB-4CB7-B4B4-25246B2F1865}" srcOrd="0" destOrd="0" presId="urn:microsoft.com/office/officeart/2008/layout/LinedList"/>
    <dgm:cxn modelId="{2B1C5AD0-8417-4784-AD0C-8386A11362F6}" type="presOf" srcId="{9CA5BC4F-398A-4B6C-AE1D-1C4A40558AE7}" destId="{A5201CE0-56A9-4F39-9719-65BEFF796BAF}" srcOrd="0" destOrd="0" presId="urn:microsoft.com/office/officeart/2008/layout/LinedList"/>
    <dgm:cxn modelId="{75C453DE-53D2-4107-BE95-2587DB63D809}" srcId="{F6EF91F6-CB84-4665-B606-0DE48B43A6B0}" destId="{46F17CFA-152F-4A1D-B7EF-018BF150A011}" srcOrd="2" destOrd="0" parTransId="{661789FF-A341-488F-B060-487B518DD4D7}" sibTransId="{E3B68829-086F-409B-9403-D78A59F94E0A}"/>
    <dgm:cxn modelId="{7DADAFDE-6EBE-405F-969B-939FA1D8CA88}" srcId="{F6EF91F6-CB84-4665-B606-0DE48B43A6B0}" destId="{9CA5BC4F-398A-4B6C-AE1D-1C4A40558AE7}" srcOrd="0" destOrd="0" parTransId="{5C2B9B0F-63DE-4C2F-A695-60ECD24FE7F9}" sibTransId="{22EADA0E-5E2A-41E7-BD78-4DEA03432BF9}"/>
    <dgm:cxn modelId="{1B39CAE7-A3A6-45A8-AA55-891FFB8829FF}" srcId="{F6EF91F6-CB84-4665-B606-0DE48B43A6B0}" destId="{CB729EED-A9D1-4AB5-B2A7-08288D0737A4}" srcOrd="5" destOrd="0" parTransId="{06A86D20-E276-4564-9537-A2E167F12178}" sibTransId="{087B779A-F008-4E99-B61C-C8960DA8E1DA}"/>
    <dgm:cxn modelId="{E72285FB-0308-40CC-9FB6-938D60444AA6}" type="presOf" srcId="{1CFB767B-15ED-40A1-B8AF-E94AF4C4609B}" destId="{55B42573-5CCC-42A4-8A3F-FFBBEF3468FE}" srcOrd="0" destOrd="0" presId="urn:microsoft.com/office/officeart/2008/layout/LinedList"/>
    <dgm:cxn modelId="{00AF5043-C733-49B4-A621-67EECD92D2C9}" type="presParOf" srcId="{FAD38A29-CE8E-4158-8DDD-65F5DCF11AFC}" destId="{4CE40A51-DC73-4002-9BB0-F7D23E0A07F3}" srcOrd="0" destOrd="0" presId="urn:microsoft.com/office/officeart/2008/layout/LinedList"/>
    <dgm:cxn modelId="{9E054368-BCF6-447A-AF75-C9424015F761}" type="presParOf" srcId="{FAD38A29-CE8E-4158-8DDD-65F5DCF11AFC}" destId="{8AF385E7-F046-42A1-8692-10D31275FEC7}" srcOrd="1" destOrd="0" presId="urn:microsoft.com/office/officeart/2008/layout/LinedList"/>
    <dgm:cxn modelId="{718DDBD3-3F21-43FB-B58A-E49266E1BB13}" type="presParOf" srcId="{8AF385E7-F046-42A1-8692-10D31275FEC7}" destId="{A5201CE0-56A9-4F39-9719-65BEFF796BAF}" srcOrd="0" destOrd="0" presId="urn:microsoft.com/office/officeart/2008/layout/LinedList"/>
    <dgm:cxn modelId="{3C4A4984-59B7-429F-81A0-4484879F53C2}" type="presParOf" srcId="{8AF385E7-F046-42A1-8692-10D31275FEC7}" destId="{C6A16B7B-71E9-473F-B092-3EE2316B02A8}" srcOrd="1" destOrd="0" presId="urn:microsoft.com/office/officeart/2008/layout/LinedList"/>
    <dgm:cxn modelId="{36A83469-A0C0-4C9C-81CC-B16B73FE676F}" type="presParOf" srcId="{FAD38A29-CE8E-4158-8DDD-65F5DCF11AFC}" destId="{1798DF0D-F4A2-495D-B564-262A397F6028}" srcOrd="2" destOrd="0" presId="urn:microsoft.com/office/officeart/2008/layout/LinedList"/>
    <dgm:cxn modelId="{6590FF16-E737-4884-B3C0-C68CDE2C9015}" type="presParOf" srcId="{FAD38A29-CE8E-4158-8DDD-65F5DCF11AFC}" destId="{A884C725-B142-4D46-BDB0-A272B1B47625}" srcOrd="3" destOrd="0" presId="urn:microsoft.com/office/officeart/2008/layout/LinedList"/>
    <dgm:cxn modelId="{22375CA1-7097-446F-938B-E4A1EEF4F007}" type="presParOf" srcId="{A884C725-B142-4D46-BDB0-A272B1B47625}" destId="{BC4BFB70-373F-444D-88F4-D06DBEBBDA92}" srcOrd="0" destOrd="0" presId="urn:microsoft.com/office/officeart/2008/layout/LinedList"/>
    <dgm:cxn modelId="{ABFC86D0-EB8A-4970-A5FE-334CB2C5A30A}" type="presParOf" srcId="{A884C725-B142-4D46-BDB0-A272B1B47625}" destId="{4BB04101-5E5A-4013-9858-92C565C4E990}" srcOrd="1" destOrd="0" presId="urn:microsoft.com/office/officeart/2008/layout/LinedList"/>
    <dgm:cxn modelId="{B2A91A1A-D9BC-4F20-84F9-B1B743B2A132}" type="presParOf" srcId="{FAD38A29-CE8E-4158-8DDD-65F5DCF11AFC}" destId="{708C7870-1EC9-4B3F-9FAB-8117AA206AC8}" srcOrd="4" destOrd="0" presId="urn:microsoft.com/office/officeart/2008/layout/LinedList"/>
    <dgm:cxn modelId="{80913628-7C6D-44C4-AC87-85E772F01AFB}" type="presParOf" srcId="{FAD38A29-CE8E-4158-8DDD-65F5DCF11AFC}" destId="{3B395719-20EC-4AF2-A327-64608BE6A94F}" srcOrd="5" destOrd="0" presId="urn:microsoft.com/office/officeart/2008/layout/LinedList"/>
    <dgm:cxn modelId="{C08D2DB9-7547-40D5-9304-5EC32870BDCD}" type="presParOf" srcId="{3B395719-20EC-4AF2-A327-64608BE6A94F}" destId="{98DF01F7-732F-45BB-9098-8060EB5483FD}" srcOrd="0" destOrd="0" presId="urn:microsoft.com/office/officeart/2008/layout/LinedList"/>
    <dgm:cxn modelId="{A09BF62D-C61E-45E0-BAD0-B6A258355236}" type="presParOf" srcId="{3B395719-20EC-4AF2-A327-64608BE6A94F}" destId="{76557AAD-6779-43FC-895E-48878D22FC86}" srcOrd="1" destOrd="0" presId="urn:microsoft.com/office/officeart/2008/layout/LinedList"/>
    <dgm:cxn modelId="{652B2A73-0432-486C-AC8E-1E53310F4F3F}" type="presParOf" srcId="{FAD38A29-CE8E-4158-8DDD-65F5DCF11AFC}" destId="{02D5246D-373F-41CF-8968-BE023916056F}" srcOrd="6" destOrd="0" presId="urn:microsoft.com/office/officeart/2008/layout/LinedList"/>
    <dgm:cxn modelId="{50DC8948-C42A-46D2-88BC-0668A0F4CB46}" type="presParOf" srcId="{FAD38A29-CE8E-4158-8DDD-65F5DCF11AFC}" destId="{D78D69BE-9339-4767-8502-4157BB25510B}" srcOrd="7" destOrd="0" presId="urn:microsoft.com/office/officeart/2008/layout/LinedList"/>
    <dgm:cxn modelId="{4B496A48-B826-433F-BD06-5A7CD9B5850F}" type="presParOf" srcId="{D78D69BE-9339-4767-8502-4157BB25510B}" destId="{55B42573-5CCC-42A4-8A3F-FFBBEF3468FE}" srcOrd="0" destOrd="0" presId="urn:microsoft.com/office/officeart/2008/layout/LinedList"/>
    <dgm:cxn modelId="{C54160F3-3393-47F6-8258-1E19E456886A}" type="presParOf" srcId="{D78D69BE-9339-4767-8502-4157BB25510B}" destId="{3ADC07C4-C2AA-4A11-96B1-828F888ED530}" srcOrd="1" destOrd="0" presId="urn:microsoft.com/office/officeart/2008/layout/LinedList"/>
    <dgm:cxn modelId="{601343C3-75EF-4F9C-BAD6-6C751DD5E23F}" type="presParOf" srcId="{FAD38A29-CE8E-4158-8DDD-65F5DCF11AFC}" destId="{E65720DC-2BB8-424D-B0EA-E7383C0ABFC0}" srcOrd="8" destOrd="0" presId="urn:microsoft.com/office/officeart/2008/layout/LinedList"/>
    <dgm:cxn modelId="{1D1A5248-415A-46FD-9CA3-CE4EF4F24C38}" type="presParOf" srcId="{FAD38A29-CE8E-4158-8DDD-65F5DCF11AFC}" destId="{E64802FA-6523-4640-97F1-4E92B49FCCC1}" srcOrd="9" destOrd="0" presId="urn:microsoft.com/office/officeart/2008/layout/LinedList"/>
    <dgm:cxn modelId="{0F052C10-49D4-47AB-931A-8927544A1370}" type="presParOf" srcId="{E64802FA-6523-4640-97F1-4E92B49FCCC1}" destId="{9DF9A355-A0CB-4CB7-B4B4-25246B2F1865}" srcOrd="0" destOrd="0" presId="urn:microsoft.com/office/officeart/2008/layout/LinedList"/>
    <dgm:cxn modelId="{6C93A703-9123-4920-B52F-30C9223F51B0}" type="presParOf" srcId="{E64802FA-6523-4640-97F1-4E92B49FCCC1}" destId="{20D1F678-9F64-48D5-BABF-EF5083CF9FAE}" srcOrd="1" destOrd="0" presId="urn:microsoft.com/office/officeart/2008/layout/LinedList"/>
    <dgm:cxn modelId="{4100B4DF-ECE3-425D-976B-EC8ED1C11384}" type="presParOf" srcId="{FAD38A29-CE8E-4158-8DDD-65F5DCF11AFC}" destId="{13DA269D-705B-4967-9CED-1082C6A4FA00}" srcOrd="10" destOrd="0" presId="urn:microsoft.com/office/officeart/2008/layout/LinedList"/>
    <dgm:cxn modelId="{035F8FD3-C6DD-4085-82D9-0FFA9E3F77EC}" type="presParOf" srcId="{FAD38A29-CE8E-4158-8DDD-65F5DCF11AFC}" destId="{33912DE3-7081-490F-80D7-285A0F659DC2}" srcOrd="11" destOrd="0" presId="urn:microsoft.com/office/officeart/2008/layout/LinedList"/>
    <dgm:cxn modelId="{CC746AF9-8FCB-4FF0-B9E8-6FA18DCDB3F0}" type="presParOf" srcId="{33912DE3-7081-490F-80D7-285A0F659DC2}" destId="{37A21777-3041-4377-9DDD-3E0A4F9AF908}" srcOrd="0" destOrd="0" presId="urn:microsoft.com/office/officeart/2008/layout/LinedList"/>
    <dgm:cxn modelId="{7C31EAF5-F635-40DE-A820-5EC75E501489}" type="presParOf" srcId="{33912DE3-7081-490F-80D7-285A0F659DC2}" destId="{C68C596F-D7DB-4489-96A4-60CE5971B31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40A51-DC73-4002-9BB0-F7D23E0A07F3}">
      <dsp:nvSpPr>
        <dsp:cNvPr id="0" name=""/>
        <dsp:cNvSpPr/>
      </dsp:nvSpPr>
      <dsp:spPr>
        <a:xfrm>
          <a:off x="0" y="1795"/>
          <a:ext cx="7420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01CE0-56A9-4F39-9719-65BEFF796BAF}">
      <dsp:nvSpPr>
        <dsp:cNvPr id="0" name=""/>
        <dsp:cNvSpPr/>
      </dsp:nvSpPr>
      <dsp:spPr>
        <a:xfrm>
          <a:off x="0" y="1795"/>
          <a:ext cx="7420819" cy="61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INTRODUCTION</a:t>
          </a:r>
        </a:p>
      </dsp:txBody>
      <dsp:txXfrm>
        <a:off x="0" y="1795"/>
        <a:ext cx="7420819" cy="612176"/>
      </dsp:txXfrm>
    </dsp:sp>
    <dsp:sp modelId="{1798DF0D-F4A2-495D-B564-262A397F6028}">
      <dsp:nvSpPr>
        <dsp:cNvPr id="0" name=""/>
        <dsp:cNvSpPr/>
      </dsp:nvSpPr>
      <dsp:spPr>
        <a:xfrm>
          <a:off x="0" y="613971"/>
          <a:ext cx="7420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BFB70-373F-444D-88F4-D06DBEBBDA92}">
      <dsp:nvSpPr>
        <dsp:cNvPr id="0" name=""/>
        <dsp:cNvSpPr/>
      </dsp:nvSpPr>
      <dsp:spPr>
        <a:xfrm>
          <a:off x="0" y="613971"/>
          <a:ext cx="7420819" cy="61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solidFill>
                <a:schemeClr val="bg1"/>
              </a:solidFill>
            </a:rPr>
            <a:t>INCIDENT DESCRIPTION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0" y="613971"/>
        <a:ext cx="7420819" cy="612176"/>
      </dsp:txXfrm>
    </dsp:sp>
    <dsp:sp modelId="{708C7870-1EC9-4B3F-9FAB-8117AA206AC8}">
      <dsp:nvSpPr>
        <dsp:cNvPr id="0" name=""/>
        <dsp:cNvSpPr/>
      </dsp:nvSpPr>
      <dsp:spPr>
        <a:xfrm>
          <a:off x="0" y="1226148"/>
          <a:ext cx="7420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F01F7-732F-45BB-9098-8060EB5483FD}">
      <dsp:nvSpPr>
        <dsp:cNvPr id="0" name=""/>
        <dsp:cNvSpPr/>
      </dsp:nvSpPr>
      <dsp:spPr>
        <a:xfrm>
          <a:off x="0" y="1226148"/>
          <a:ext cx="7420819" cy="61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ANALYSIS OF CAUSES</a:t>
          </a:r>
        </a:p>
      </dsp:txBody>
      <dsp:txXfrm>
        <a:off x="0" y="1226148"/>
        <a:ext cx="7420819" cy="612176"/>
      </dsp:txXfrm>
    </dsp:sp>
    <dsp:sp modelId="{02D5246D-373F-41CF-8968-BE023916056F}">
      <dsp:nvSpPr>
        <dsp:cNvPr id="0" name=""/>
        <dsp:cNvSpPr/>
      </dsp:nvSpPr>
      <dsp:spPr>
        <a:xfrm>
          <a:off x="0" y="1838324"/>
          <a:ext cx="7420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42573-5CCC-42A4-8A3F-FFBBEF3468FE}">
      <dsp:nvSpPr>
        <dsp:cNvPr id="0" name=""/>
        <dsp:cNvSpPr/>
      </dsp:nvSpPr>
      <dsp:spPr>
        <a:xfrm>
          <a:off x="0" y="1838324"/>
          <a:ext cx="7420819" cy="61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IMPACT &amp; CONSEQUENCES</a:t>
          </a:r>
        </a:p>
      </dsp:txBody>
      <dsp:txXfrm>
        <a:off x="0" y="1838324"/>
        <a:ext cx="7420819" cy="612176"/>
      </dsp:txXfrm>
    </dsp:sp>
    <dsp:sp modelId="{E65720DC-2BB8-424D-B0EA-E7383C0ABFC0}">
      <dsp:nvSpPr>
        <dsp:cNvPr id="0" name=""/>
        <dsp:cNvSpPr/>
      </dsp:nvSpPr>
      <dsp:spPr>
        <a:xfrm>
          <a:off x="0" y="2450500"/>
          <a:ext cx="7420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9A355-A0CB-4CB7-B4B4-25246B2F1865}">
      <dsp:nvSpPr>
        <dsp:cNvPr id="0" name=""/>
        <dsp:cNvSpPr/>
      </dsp:nvSpPr>
      <dsp:spPr>
        <a:xfrm>
          <a:off x="0" y="2450500"/>
          <a:ext cx="7420819" cy="61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solidFill>
                <a:schemeClr val="bg1"/>
              </a:solidFill>
            </a:rPr>
            <a:t>LESSON LEARNED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0" y="2450500"/>
        <a:ext cx="7420819" cy="612176"/>
      </dsp:txXfrm>
    </dsp:sp>
    <dsp:sp modelId="{13DA269D-705B-4967-9CED-1082C6A4FA00}">
      <dsp:nvSpPr>
        <dsp:cNvPr id="0" name=""/>
        <dsp:cNvSpPr/>
      </dsp:nvSpPr>
      <dsp:spPr>
        <a:xfrm>
          <a:off x="0" y="3062677"/>
          <a:ext cx="7420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21777-3041-4377-9DDD-3E0A4F9AF908}">
      <dsp:nvSpPr>
        <dsp:cNvPr id="0" name=""/>
        <dsp:cNvSpPr/>
      </dsp:nvSpPr>
      <dsp:spPr>
        <a:xfrm>
          <a:off x="0" y="3062677"/>
          <a:ext cx="7420819" cy="612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RECOMMENDATION</a:t>
          </a:r>
        </a:p>
      </dsp:txBody>
      <dsp:txXfrm>
        <a:off x="0" y="3062677"/>
        <a:ext cx="7420819" cy="612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4/2/2024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A6CD-0DE7-11E3-3879-8B938B88C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3674E-9391-A5D8-91AA-77F0290FE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93439-B698-935E-A775-21ADA5CA3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CBC95-CEE7-82AF-F30E-D05FAE67D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558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9B53-31B5-39F9-0804-AA036FFFF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BC8A6-34FC-AD6D-F3FB-B043DCDEE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640E6-3BCA-47B3-A05F-9C68E15EB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53DFA-1EB6-99AD-4DAE-C034908D8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5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84D1-E3E8-A6EE-792D-56E9C31D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4933E-7768-43F6-9415-F9CAEDB0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B9C0D-CF18-A031-E088-7BFDE44A4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59EA9-98DE-C461-414C-B53E7F038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390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F53DB-1209-4EB3-5CD4-969ABCE5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40D35-040F-4D47-E59F-A11B44D12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BE927-B059-B2E2-11B8-282EF0971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8C5BC-C09C-BF3F-1895-68AD2A78E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739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3B010-D553-F9B7-EC1D-23942A4CE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88AA5-B070-E11F-8CB0-AA89ADDBE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8533E-E7D9-2E9B-AB3A-360692F67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E3442-0DE0-7CDC-E740-AB2F17F95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45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0244-0BA2-ECB7-5F99-6B5B27A6F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82D46-CA73-A32E-6DD1-817D35548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C7E2C-9E3F-3F42-8A1F-B6E0BE055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EAF80-7525-EED3-5031-C752A0F31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82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697D-FAAF-6C9F-3C79-80F39E755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E2BEA-3F1A-ACB8-2E9F-25CE195C1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E6452-F6A3-817A-57A6-3D8C9AFBF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3CF4A-8DFE-6DDE-B558-EF4B9B0B6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696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42DC-A852-5D84-68EB-EA506420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BE048-3861-DF1E-9F04-0B24F9B6A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D196C-593A-0223-B650-245E1DD85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E5150-A006-BBBA-3031-DFA7CC836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81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B791-48A7-B2B2-2196-67A9ED05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DB92A-7FC6-E076-423E-293B7016C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4A262-890F-0924-089F-7BCAD44DD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C8286-3AFA-00B6-EBEA-6102FC788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095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160F-44A9-4368-D3EC-5E59F222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39187-6B2D-8E96-D063-C2BF61ED9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76E7C-C870-D5D8-B498-CDC0D23F0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7C855-4D18-6BA6-B96D-601C24828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4633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CF6E-2D54-E862-0308-490535D1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96E3B-5FDD-2170-22A4-9A679AC91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C9FD7-D8D0-BD86-6DD0-2C11D480C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D1EE9-1F7D-4C32-322A-8E4703EA3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367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32000">
              <a:schemeClr val="tx1"/>
            </a:gs>
            <a:gs pos="40000">
              <a:schemeClr val="tx1"/>
            </a:gs>
            <a:gs pos="39000">
              <a:srgbClr val="02090E"/>
            </a:gs>
            <a:gs pos="22000">
              <a:schemeClr val="tx1"/>
            </a:gs>
          </a:gsLst>
          <a:lin ang="12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5561163"/>
          </a:xfrm>
        </p:spPr>
        <p:txBody>
          <a:bodyPr anchor="b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b="1" dirty="0">
                <a:solidFill>
                  <a:schemeClr val="bg1"/>
                </a:solidFill>
              </a:rPr>
              <a:t>RANSOMWARE ATTACK ON </a:t>
            </a:r>
            <a:r>
              <a:rPr lang="en-US" b="1" dirty="0">
                <a:solidFill>
                  <a:srgbClr val="C00000"/>
                </a:solidFill>
              </a:rPr>
              <a:t>SÜDWESTFALEN-IT</a:t>
            </a:r>
            <a:r>
              <a:rPr lang="en-US" b="1" dirty="0">
                <a:solidFill>
                  <a:schemeClr val="bg1"/>
                </a:solidFill>
              </a:rPr>
              <a:t> COMPANY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265" y="6314536"/>
            <a:ext cx="5635924" cy="238665"/>
          </a:xfrm>
        </p:spPr>
        <p:txBody>
          <a:bodyPr/>
          <a:lstStyle/>
          <a:p>
            <a:r>
              <a:rPr lang="en-US" sz="3000" dirty="0">
                <a:solidFill>
                  <a:srgbClr val="C00000"/>
                </a:solidFill>
              </a:rPr>
              <a:t>Rodan Maharjan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3500" b="1" dirty="0"/>
              <a:t>Agenda</a:t>
            </a:r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BB4AA2DF-BFC8-1A98-1052-3C45DD9B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33" name="Text Placeholder 3">
            <a:extLst>
              <a:ext uri="{FF2B5EF4-FFF2-40B4-BE49-F238E27FC236}">
                <a16:creationId xmlns:a16="http://schemas.microsoft.com/office/drawing/2014/main" id="{CC0A43C0-C2C9-7B4D-9BC3-25768623409B}"/>
              </a:ext>
            </a:extLst>
          </p:cNvPr>
          <p:cNvGraphicFramePr>
            <a:graphicFrameLocks noGrp="1"/>
          </p:cNvGraphicFramePr>
          <p:nvPr>
            <p:ph sz="quarter" idx="31"/>
            <p:extLst>
              <p:ext uri="{D42A27DB-BD31-4B8C-83A1-F6EECF244321}">
                <p14:modId xmlns:p14="http://schemas.microsoft.com/office/powerpoint/2010/main" val="262717041"/>
              </p:ext>
            </p:extLst>
          </p:nvPr>
        </p:nvGraphicFramePr>
        <p:xfrm>
          <a:off x="3305669" y="2470150"/>
          <a:ext cx="7420819" cy="3676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Introduction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55" y="940279"/>
            <a:ext cx="10869284" cy="4932201"/>
          </a:xfrm>
        </p:spPr>
        <p:txBody>
          <a:bodyPr/>
          <a:lstStyle/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October 29, 2023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Südwestfalen-IT fell victim to a ransomware attack. 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the assistance of external cybersecurity experts(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r-tec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they conducted thorough forensic investigations.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the incident, r-tec was tasked with conducting: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forensic investigation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containment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reconstruction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restart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infrastructure and applications.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6C16-B565-79EC-8A08-5C637FB24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A99A-1BEF-7268-74C1-6E4EF0CA1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INCIDENT DESCRIPTION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D49090B-8AA5-5322-97BB-06482FFC2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55" y="940279"/>
            <a:ext cx="10869284" cy="4932201"/>
          </a:xfrm>
        </p:spPr>
        <p:txBody>
          <a:bodyPr/>
          <a:lstStyle/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attack was executed by a criminal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ransomware group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known as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Akira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attackers exploited a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zero-day vulnerability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 software-based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 solution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infiltrate the internal network.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potential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brute-force attack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have occurred.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Their actions targeted the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domain intra.lan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responsible for managing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systems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procedures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01B12C-542E-26E5-9CFA-528D78E8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12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330" y="461818"/>
            <a:ext cx="5322887" cy="3178529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3500" dirty="0"/>
              <a:t>ANALYSIS OF CAUSES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36C588-E4F4-553D-7E22-E9A08D1F0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7" y="3138191"/>
            <a:ext cx="4960830" cy="1004311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/>
              <a:t>What caused the Attack?</a:t>
            </a:r>
          </a:p>
        </p:txBody>
      </p:sp>
      <p:pic>
        <p:nvPicPr>
          <p:cNvPr id="11" name="Picture Placeholder 10" descr="A person sitting at a computer&#10;&#10;Description automatically generated">
            <a:extLst>
              <a:ext uri="{FF2B5EF4-FFF2-40B4-BE49-F238E27FC236}">
                <a16:creationId xmlns:a16="http://schemas.microsoft.com/office/drawing/2014/main" id="{4F9AD4B1-357F-D2AD-DD7B-0B99615E84D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969" r="6969"/>
          <a:stretch>
            <a:fillRect/>
          </a:stretch>
        </p:blipFill>
        <p:spPr>
          <a:xfrm>
            <a:off x="6096000" y="0"/>
            <a:ext cx="6096000" cy="6857999"/>
          </a:xfr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4C3F-6993-9312-4A76-7FE3D12C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033AC-0016-64A8-9FF8-84222C5EF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Initial entry vector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509387-7D89-1E98-97E5-DF172E5E4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9" y="940279"/>
            <a:ext cx="11185770" cy="5414339"/>
          </a:xfrm>
        </p:spPr>
        <p:txBody>
          <a:bodyPr/>
          <a:lstStyle/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sv-SE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Brute Force Attack: 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failed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VPN logins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the initial access, The combination of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vulnerable firewall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firmware, and the absence of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two-factor authentication.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Cisco ISE Logs: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Anomalies in login behavior, Multiple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logins, successful for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user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account, &amp;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unsuccessful attempts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were noted for others.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exploitation of CISCO ASA Vulnerability: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Exploiting a zero-day vulnerability in CISCO ASA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(CVE-2023-202691.2)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previously exploited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the Akira ransom group, The use of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CISCO ASA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9.12(3)7 further increased the likelihood.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C783F3-910B-54F7-7B70-CBED31DB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3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F1F0-12BA-EC5F-75BF-B759439E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060-2085-7887-C711-812DC20C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Lateral Movement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621FD15-E012-7FB4-00D5-4F2DD2E71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9" y="836763"/>
            <a:ext cx="11297912" cy="5035718"/>
          </a:xfrm>
        </p:spPr>
        <p:txBody>
          <a:bodyPr/>
          <a:lstStyle/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Login Attempts: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revealed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380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failed Anonymous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SMB login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attempts on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 servers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 the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intra.lan network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systematic approach to accessing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systems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simultaneously.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to Critical Systems: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RDP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access to a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 using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“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intra.lan\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Administrator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account, the attacker gained access to an additional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systems(DCs)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VPN Sessions: 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VPN sessions with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different user 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accounts, after establishing the initial VPN connection. This simultaneous use of multiple sessions indicates an orchestrated effort to move laterally across the network swiftly and covertly. 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Vulnerability: 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domain administrator’s password had been stored in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plaintext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within a Group Policy Object (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GPO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since 2014.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A0B88D-EAB7-6319-BA2A-AE209039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718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37B7-13D8-0F23-A8A9-5E840237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CF5B-1C12-DBE1-C33F-7E93686A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Post-exploitation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7DC611B-D3B4-1E99-D682-A32103BE1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55" y="940279"/>
            <a:ext cx="10869284" cy="4932201"/>
          </a:xfrm>
        </p:spPr>
        <p:txBody>
          <a:bodyPr/>
          <a:lstStyle/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Exfiltration Preparation: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program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WinRAR.exe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initiated &amp; subsequently crashed on the file server.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Credential Theft Attempts: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attempted to extract Veeam credentials from the system of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.intra.lan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Defender Exclusion: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exception in Windows Defender on several DCs to exclude the entire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C:\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 from malware scans.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and Encryption: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Despite partial encryption of log files, key information regarding the encryption process was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retrievable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C6C5DB-52AC-8DAB-5125-A61992DA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59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95924-72CC-9711-C46D-2E21D434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9971-C645-6B29-1F01-5A1EC127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IMPACT AND CONSEQUENCES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A1A4187-FB27-DEA4-2A7B-5987B96A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55" y="940279"/>
            <a:ext cx="10869284" cy="4932201"/>
          </a:xfrm>
        </p:spPr>
        <p:txBody>
          <a:bodyPr/>
          <a:lstStyle/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indication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preparation for possible data exfiltration. An unsuccessful attempt to use a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WinRAR executable</a:t>
            </a:r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identified on the file server of INTRA.LAN.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Disruption: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disruption of normal business operations, leading to downtime and productivity losses. 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Reputation Damage: The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company’s reputation, and trust among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customers, partners, and stakeholders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This loss of trust can have long-term implications for the company's brand and competitiveness.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1029CA-5A48-C335-13F2-51AA23BC3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64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93295-DE80-32F2-6972-5B1FDC4F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D5452-CC22-069C-7BDA-77096BA5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LESSON LEARNED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ED89F62-8EF7-EAEA-167F-47283C308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55" y="940279"/>
            <a:ext cx="10869284" cy="4932201"/>
          </a:xfrm>
        </p:spPr>
        <p:txBody>
          <a:bodyPr/>
          <a:lstStyle/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and Logging: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limited historical event logs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hinder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ability to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reconstruct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Vulnerability Management: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identify and remediate potential weaknesses before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attackers exploit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them. 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Incident Response: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significance of having an incident response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in place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including clear procedures for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detecting, analyzing, and mitigating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breaches.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Protection and Privacy: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to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safeguard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sensitive information from unauthorized access and exfiltration.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3C1002-B753-AF4D-7C87-4931D14AD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269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C1BB-2EE9-6089-D541-2E0BCEAF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54905C3F-8C46-7297-7816-8E626C972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854" y="173736"/>
            <a:ext cx="4983595" cy="2203704"/>
          </a:xfrm>
        </p:spPr>
        <p:txBody>
          <a:bodyPr anchor="b">
            <a:normAutofit/>
          </a:bodyPr>
          <a:lstStyle/>
          <a:p>
            <a:r>
              <a:rPr lang="en-US" dirty="0"/>
              <a:t>Recommendations</a:t>
            </a:r>
          </a:p>
        </p:txBody>
      </p:sp>
      <p:pic>
        <p:nvPicPr>
          <p:cNvPr id="8" name="Picture Placeholder 7" descr="A blue shield with a keyhole&#10;&#10;Description automatically generated">
            <a:extLst>
              <a:ext uri="{FF2B5EF4-FFF2-40B4-BE49-F238E27FC236}">
                <a16:creationId xmlns:a16="http://schemas.microsoft.com/office/drawing/2014/main" id="{7A643034-B4B8-C8E7-497A-468F5157784A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/>
          <a:srcRect l="7838" r="6409" b="-2"/>
          <a:stretch/>
        </p:blipFill>
        <p:spPr>
          <a:xfrm>
            <a:off x="336550" y="336550"/>
            <a:ext cx="5303640" cy="6184900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7D122-7ABA-3A47-0F56-C1CE0DF5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36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10D3-0FA7-5EDB-4BAB-07F8E348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74F9-63F3-C99C-79DC-8FF6CC14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Short-term Measures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BCBAE70-4606-CEA0-2B90-DCDFA6FF6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55" y="940279"/>
            <a:ext cx="10869284" cy="4932201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Forensic Scan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 Restoration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Segmentation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Next-Generation Firewall LOG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Hardening Best Practices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Account Security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Dark Web Monitoring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6F30FE-484E-447D-2211-A7564B78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225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9BBC9-60E8-9EAC-5493-46A32B9C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A0CE-5D78-9DC9-5B45-7D4E0A13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Medium-term Measures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193C8C3-DC3E-73BB-3C28-755253D31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55" y="940279"/>
            <a:ext cx="10869284" cy="4932201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Network Segmentation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Firewall Optimization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System Hardening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User Account Security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EDR Measures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Logging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Vulnerability Management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Continued Dark Web Monitoring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7EBE11-BFBE-CDAF-84AB-7B8D568B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88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A0A6-69E7-3060-F4BC-3786A72D3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F5E9-0AAE-DB0E-29C0-E828823E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Long-term Measures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3EB099-65C9-7BA1-F862-1C95C6D0C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55" y="940279"/>
            <a:ext cx="10869284" cy="5124091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 Security Plan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the organization, processes, and IT security architecture to maintain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standards</a:t>
            </a:r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permanently.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Security Consolidation: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of VPN into existing Next-Gen Firewall.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Identity and Access Management: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a new role and permission concept in conjunction with a tiering model in the AD and implementation of a solution for managing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privileged access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conjunction with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SSO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Penetration Tests / Red Teaming: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 examination of all parts of the organization using the typical </a:t>
            </a:r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 of attacker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groups based on 3-year plans, including both internal and external attacks at various levels and with different target areas.</a:t>
            </a: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4E5B4-80BB-B748-EAA3-E6CB16EC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187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3F923-0592-0D27-6668-4AE132D3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0321-AF41-B16A-F5DD-114BB5BD6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138023"/>
            <a:ext cx="11548261" cy="698739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Conclusion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554035A-659E-4B11-38BD-161EE27FC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55" y="940279"/>
            <a:ext cx="10869284" cy="5124091"/>
          </a:xfrm>
        </p:spPr>
        <p:txBody>
          <a:bodyPr/>
          <a:lstStyle/>
          <a:p>
            <a:pPr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embracing these recommendations and lessons learned, Südwestfalen-IT can fortify its defenses against future cyber threats, safeguard business operations, and uphold data integrity, contributing to a more secure digital environment for its customers and stakeholders.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8022C-7368-3D33-8BB2-893FAE6D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67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0" y="173735"/>
            <a:ext cx="5858267" cy="2203704"/>
          </a:xfrm>
        </p:spPr>
        <p:txBody>
          <a:bodyPr/>
          <a:lstStyle/>
          <a:p>
            <a:r>
              <a:rPr lang="en-US" sz="6000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20"/>
            <a:ext cx="5698346" cy="880406"/>
          </a:xfrm>
        </p:spPr>
        <p:txBody>
          <a:bodyPr/>
          <a:lstStyle/>
          <a:p>
            <a:r>
              <a:rPr lang="en-US" sz="3200" dirty="0">
                <a:latin typeface="Bodoni headings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{842830FF-1EAB-43AE-85D5-E40C520B786B}tf11936837_win32</Template>
  <TotalTime>3216</TotalTime>
  <Words>843</Words>
  <Application>Microsoft Office PowerPoint</Application>
  <PresentationFormat>Widescreen</PresentationFormat>
  <Paragraphs>113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Nova</vt:lpstr>
      <vt:lpstr>Biome</vt:lpstr>
      <vt:lpstr>Bodoni headings</vt:lpstr>
      <vt:lpstr>Calibri</vt:lpstr>
      <vt:lpstr>Custom</vt:lpstr>
      <vt:lpstr>RANSOMWARE ATTACK ON SÜDWESTFALEN-IT COMPANY</vt:lpstr>
      <vt:lpstr>Agenda</vt:lpstr>
      <vt:lpstr>Introduction</vt:lpstr>
      <vt:lpstr>INCIDENT DESCRIPTION</vt:lpstr>
      <vt:lpstr>What caused the Attack?</vt:lpstr>
      <vt:lpstr>Initial entry vector</vt:lpstr>
      <vt:lpstr>Lateral Movement</vt:lpstr>
      <vt:lpstr>Post-exploitation</vt:lpstr>
      <vt:lpstr>IMPACT AND CONSEQUENCES</vt:lpstr>
      <vt:lpstr>LESSON LEARNED</vt:lpstr>
      <vt:lpstr>Recommendations</vt:lpstr>
      <vt:lpstr>Short-term Measures</vt:lpstr>
      <vt:lpstr>Medium-term Measures</vt:lpstr>
      <vt:lpstr>Long-term Measures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</dc:title>
  <dc:creator>Rodan Maharjan</dc:creator>
  <cp:lastModifiedBy>Rodan Maharjan</cp:lastModifiedBy>
  <cp:revision>74</cp:revision>
  <dcterms:created xsi:type="dcterms:W3CDTF">2024-03-27T04:16:50Z</dcterms:created>
  <dcterms:modified xsi:type="dcterms:W3CDTF">2024-04-02T09:56:52Z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